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9" r:id="rId4"/>
    <p:sldId id="268" r:id="rId5"/>
    <p:sldId id="257" r:id="rId6"/>
    <p:sldId id="259" r:id="rId7"/>
    <p:sldId id="260" r:id="rId8"/>
    <p:sldId id="266" r:id="rId9"/>
    <p:sldId id="261" r:id="rId10"/>
    <p:sldId id="262" r:id="rId11"/>
    <p:sldId id="263" r:id="rId12"/>
    <p:sldId id="265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  <a:srgbClr val="F8FF99"/>
    <a:srgbClr val="587A7F"/>
    <a:srgbClr val="7BA0A6"/>
    <a:srgbClr val="335357"/>
    <a:srgbClr val="213539"/>
    <a:srgbClr val="2E4A50"/>
    <a:srgbClr val="49767F"/>
    <a:srgbClr val="51848E"/>
    <a:srgbClr val="EEF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0E1F-E99D-0145-802D-844E0AB5A000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2491C-1C02-9E4E-BB70-388EA268ED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2491C-1C02-9E4E-BB70-388EA268EDCB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735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0BDA6-5D54-E59C-2D3C-DC9412D0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991A66-25B5-FFF5-FEDF-8B4CF20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D9E2D-FEEF-92D7-C58A-FDB36DD2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9734E-BB25-EE9C-0F3F-8EB4D710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4E5474-2E57-8488-6166-D2F23CA2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90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09C14-8DC2-8E35-67A0-FE4FC0B3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219E2F-845A-04A2-8550-C2C1AD531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BE070D-10E8-E399-FEB8-4E623480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71DB40-A1BB-E4BF-CB1D-3A79500D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A3E17B-F2F5-D2AB-462D-DD140306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70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2728A-E379-C2D4-52F3-9D3F6D3C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D3B148-DA32-25DD-EF65-527B58B03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E05A1D-3A22-9625-76B2-6312A2A9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89B584-4FCF-CBF5-0DFE-F472D807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556BB-3690-5710-432A-4C576958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03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B2985-5F87-5F86-E6DB-6425A593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1C3F09-1CD4-BF09-BD16-B3AE12A8F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502AE7-2025-26D2-83AA-83C5CA42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4ABCA-61A5-C834-C041-5B725629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A73CD9-F8C4-BA5E-1A37-73609F24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4492C-17F2-28B0-88A2-C5CECF0D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94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DB66E7-3110-9843-4DEB-4F31608D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E124CD-7617-DCD7-7637-0DBCE75F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826716-4BE9-06FB-2FFA-E2AD3786A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EE9FF8-25D6-A715-DBAD-A66F1A0A5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9C39A5-4501-C0B2-EB61-C63724D3C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8C2B9BF-4584-11F8-2EDB-CA86C6A4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1D7EBE-3684-F1CD-9373-E3882C24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12DDE2-6AE4-B68F-C2AF-135174FA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90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FF5D4-9680-2A9F-2789-44CCD165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BD0DCC-6906-7E0F-6019-E2738BCF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000BE3-152D-07FD-DCA2-D2C5C097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388DC0-85CA-17E3-1505-E722D958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07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85AEDF-D9DA-D180-8750-17785567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5CBB40-2D7C-50A5-1B26-2EF0BBE7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5CA291-B9CA-2D77-61D3-3D73908F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00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E3EA0C-4AE9-7C17-0871-98C0CFE1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00555F-922B-8E8D-FB09-CEDBFBE6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429A38-7ADD-7242-541B-DD34A1CC7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FB82D1-5293-0D7C-382A-B103175A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265B81-CD95-9FC9-4D0A-1625D694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118068-97D0-0DB0-7147-F56F1F89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31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AFD23-BB01-B997-2F76-C870665C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3A3571-4B46-8FE8-5E0C-069753E6A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5D9CDE-C4B3-0A45-0087-7DAC96222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7ACFBB-4F60-2AED-57BF-69E5E17E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3D3914-CDDA-5CEB-EFC3-BE62E835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6320A8-A842-F241-C35F-280F1314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01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51778-04AC-8D4A-D79F-EFE17DAE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7A9D53-0C72-FC8E-4CCA-92354A5B1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2A7FB-8BE2-7425-1FDC-90E15018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8DC9E0-404E-36CB-A2E2-59281048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55183D-EA0A-864A-15BE-55F70FA8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68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4ABA95-F3FD-2F82-8FDB-F400B9F5B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6F719E-3428-A3C6-819C-F6FE2710E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6488A-093E-5D33-E0EC-7A489E68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44D219-7D87-975F-7BAE-A06D14D4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C5594-84C2-7F25-E043-78891A0C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27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1714D6-7D74-033E-EB76-76016940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DFF16D-3F9E-990C-90E9-54378150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8A8908-8323-13E5-E021-0D2602130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8C9A-FBDC-C84F-80DF-4E0DE73F20B1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1B87E6-1900-32BD-EA82-9B57B0F43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BE3D2-08C4-E05B-8BA7-8ECFEB31A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68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9F191351-2123-43BA-962A-AE4758594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23" t="13672" r="22851" b="15179"/>
          <a:stretch>
            <a:fillRect/>
          </a:stretch>
        </p:blipFill>
        <p:spPr>
          <a:xfrm>
            <a:off x="1215861" y="915304"/>
            <a:ext cx="3454400" cy="4626429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E8B85BA-5812-34BA-C676-A0ADFEAC7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47" t="16406" r="23828" b="14648"/>
          <a:stretch>
            <a:fillRect/>
          </a:stretch>
        </p:blipFill>
        <p:spPr>
          <a:xfrm>
            <a:off x="6877957" y="1058633"/>
            <a:ext cx="3454400" cy="448310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732285A-C302-242A-0D13-5463F5F259E3}"/>
              </a:ext>
            </a:extLst>
          </p:cNvPr>
          <p:cNvSpPr txBox="1"/>
          <p:nvPr/>
        </p:nvSpPr>
        <p:spPr>
          <a:xfrm>
            <a:off x="1414437" y="5541732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いつものポテト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23B806D-90A3-8C8B-9A89-D104F91AC211}"/>
              </a:ext>
            </a:extLst>
          </p:cNvPr>
          <p:cNvSpPr txBox="1"/>
          <p:nvPr/>
        </p:nvSpPr>
        <p:spPr>
          <a:xfrm>
            <a:off x="7281718" y="554173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今日のポテト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9A5864-8041-1BE8-81DA-9C3C9D3049A1}"/>
              </a:ext>
            </a:extLst>
          </p:cNvPr>
          <p:cNvSpPr txBox="1"/>
          <p:nvPr/>
        </p:nvSpPr>
        <p:spPr>
          <a:xfrm>
            <a:off x="5519057" y="915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226576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81BEFB4-B1F4-8BFF-77A3-6F8E2C27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00" y="2451100"/>
            <a:ext cx="3632200" cy="19558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0F50845-DF01-2DFF-BCF9-125C3DF71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835" y="3712935"/>
            <a:ext cx="2171700" cy="11303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CFBE50C-51B8-2232-6739-47244F5EE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025" y="3058590"/>
            <a:ext cx="3179146" cy="1784645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99CDCA0-15EB-61D9-0FFA-9EECCA951F0C}"/>
              </a:ext>
            </a:extLst>
          </p:cNvPr>
          <p:cNvSpPr/>
          <p:nvPr/>
        </p:nvSpPr>
        <p:spPr>
          <a:xfrm>
            <a:off x="391885" y="1048510"/>
            <a:ext cx="8186057" cy="305096"/>
          </a:xfrm>
          <a:prstGeom prst="rect">
            <a:avLst/>
          </a:prstGeom>
          <a:solidFill>
            <a:srgbClr val="2236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0152ED5-CD6A-706C-BB66-FAEF1908CCCE}"/>
              </a:ext>
            </a:extLst>
          </p:cNvPr>
          <p:cNvSpPr/>
          <p:nvPr/>
        </p:nvSpPr>
        <p:spPr>
          <a:xfrm>
            <a:off x="566057" y="2851762"/>
            <a:ext cx="4267200" cy="305096"/>
          </a:xfrm>
          <a:prstGeom prst="rect">
            <a:avLst/>
          </a:prstGeom>
          <a:solidFill>
            <a:srgbClr val="4976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>
                <a:solidFill>
                  <a:srgbClr val="EEFFFB"/>
                </a:solidFill>
              </a:rPr>
              <a:t>これはテキストです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64D5DC-FA4A-E946-AD2A-B53BC3D0544C}"/>
              </a:ext>
            </a:extLst>
          </p:cNvPr>
          <p:cNvSpPr/>
          <p:nvPr/>
        </p:nvSpPr>
        <p:spPr>
          <a:xfrm>
            <a:off x="566057" y="3156857"/>
            <a:ext cx="4267200" cy="1250043"/>
          </a:xfrm>
          <a:prstGeom prst="rect">
            <a:avLst/>
          </a:prstGeom>
          <a:solidFill>
            <a:srgbClr val="EEF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• </a:t>
            </a:r>
            <a:r>
              <a:rPr lang="ja-JP" altLang="en-US" sz="1200">
                <a:solidFill>
                  <a:schemeClr val="tx1"/>
                </a:solidFill>
              </a:rPr>
              <a:t>今日のキーワード：散布図・回帰直線・予測式</a:t>
            </a:r>
            <a:endParaRPr lang="en-US" altLang="ja-JP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sz="1200" dirty="0">
                <a:solidFill>
                  <a:schemeClr val="tx1"/>
                </a:solidFill>
              </a:rPr>
              <a:t>• </a:t>
            </a:r>
            <a:r>
              <a:rPr lang="ja-JP" altLang="en-US" sz="1200">
                <a:solidFill>
                  <a:schemeClr val="tx1"/>
                </a:solidFill>
              </a:rPr>
              <a:t>回帰は、正しい／間違いを決める話ではなく、未来を</a:t>
            </a:r>
          </a:p>
          <a:p>
            <a:pPr>
              <a:lnSpc>
                <a:spcPct val="1500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• </a:t>
            </a:r>
            <a:r>
              <a:rPr lang="ja-JP" altLang="en-US" sz="1200">
                <a:solidFill>
                  <a:schemeClr val="tx1"/>
                </a:solidFill>
              </a:rPr>
              <a:t>ゴールは計算ではなく、式の意味を言葉で説明できること</a:t>
            </a:r>
          </a:p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FC8B991-7ED8-5605-BB0B-411D4C479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543" y="1061418"/>
            <a:ext cx="7772400" cy="4190878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82D397-1BEC-4EFD-50F4-184FF9AAFD5E}"/>
              </a:ext>
            </a:extLst>
          </p:cNvPr>
          <p:cNvSpPr/>
          <p:nvPr/>
        </p:nvSpPr>
        <p:spPr>
          <a:xfrm>
            <a:off x="1066800" y="5519057"/>
            <a:ext cx="4517571" cy="1001486"/>
          </a:xfrm>
          <a:prstGeom prst="rect">
            <a:avLst/>
          </a:prstGeom>
          <a:solidFill>
            <a:srgbClr val="FFFD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67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096DCC9-5605-CA2A-6806-1DB14144D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734" y="2097313"/>
            <a:ext cx="2673351" cy="2717661"/>
          </a:xfrm>
          <a:prstGeom prst="rect">
            <a:avLst/>
          </a:prstGeom>
        </p:spPr>
      </p:pic>
      <p:sp>
        <p:nvSpPr>
          <p:cNvPr id="12" name="雲形吹き出し 11">
            <a:extLst>
              <a:ext uri="{FF2B5EF4-FFF2-40B4-BE49-F238E27FC236}">
                <a16:creationId xmlns:a16="http://schemas.microsoft.com/office/drawing/2014/main" id="{7E38ECAA-5207-8D25-995A-AD66FA15E42E}"/>
              </a:ext>
            </a:extLst>
          </p:cNvPr>
          <p:cNvSpPr/>
          <p:nvPr/>
        </p:nvSpPr>
        <p:spPr>
          <a:xfrm>
            <a:off x="3177012" y="1852823"/>
            <a:ext cx="2416629" cy="1480457"/>
          </a:xfrm>
          <a:prstGeom prst="cloudCallout">
            <a:avLst>
              <a:gd name="adj1" fmla="val -38401"/>
              <a:gd name="adj2" fmla="val 64706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00A98D-5263-90C3-5C7F-511ECAF59D9D}"/>
              </a:ext>
            </a:extLst>
          </p:cNvPr>
          <p:cNvSpPr txBox="1"/>
          <p:nvPr/>
        </p:nvSpPr>
        <p:spPr>
          <a:xfrm>
            <a:off x="4351209" y="21402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C78183-1C73-20AA-AB16-27827E8AD9D3}"/>
              </a:ext>
            </a:extLst>
          </p:cNvPr>
          <p:cNvSpPr txBox="1"/>
          <p:nvPr/>
        </p:nvSpPr>
        <p:spPr>
          <a:xfrm>
            <a:off x="3588962" y="2185092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0011B5-B70E-E9BA-2A2D-46CEF8D639C9}"/>
              </a:ext>
            </a:extLst>
          </p:cNvPr>
          <p:cNvSpPr txBox="1"/>
          <p:nvPr/>
        </p:nvSpPr>
        <p:spPr>
          <a:xfrm rot="19846141">
            <a:off x="3841614" y="244661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CBFAEB-FA06-22FF-6045-9DA79F7B830F}"/>
              </a:ext>
            </a:extLst>
          </p:cNvPr>
          <p:cNvSpPr txBox="1"/>
          <p:nvPr/>
        </p:nvSpPr>
        <p:spPr>
          <a:xfrm>
            <a:off x="4082089" y="2064495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245455-5CB0-7B1E-0F38-7AC95D761585}"/>
              </a:ext>
            </a:extLst>
          </p:cNvPr>
          <p:cNvSpPr txBox="1"/>
          <p:nvPr/>
        </p:nvSpPr>
        <p:spPr>
          <a:xfrm>
            <a:off x="4052469" y="2746049"/>
            <a:ext cx="8771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5F2822-ACA3-52EB-B245-0B20036ADB29}"/>
              </a:ext>
            </a:extLst>
          </p:cNvPr>
          <p:cNvSpPr txBox="1"/>
          <p:nvPr/>
        </p:nvSpPr>
        <p:spPr>
          <a:xfrm rot="2602698">
            <a:off x="3329946" y="2592572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FC4097-B19A-FCD4-729C-EBB557078AF4}"/>
              </a:ext>
            </a:extLst>
          </p:cNvPr>
          <p:cNvSpPr txBox="1"/>
          <p:nvPr/>
        </p:nvSpPr>
        <p:spPr>
          <a:xfrm>
            <a:off x="4628124" y="2395763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rgbClr val="C00000"/>
                </a:solidFill>
              </a:rPr>
              <a:t>母集団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9EF0483-97B0-B924-1776-0258F9E98F18}"/>
              </a:ext>
            </a:extLst>
          </p:cNvPr>
          <p:cNvSpPr txBox="1"/>
          <p:nvPr/>
        </p:nvSpPr>
        <p:spPr>
          <a:xfrm>
            <a:off x="3418115" y="3674943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/>
              <a:t>\begin{center}</a:t>
            </a:r>
          </a:p>
          <a:p>
            <a:r>
              <a:rPr lang="ja-JP" altLang="en-US"/>
              <a:t>\textbf{標本から母集団の値を1つの数で推測する}</a:t>
            </a:r>
          </a:p>
          <a:p>
            <a:r>
              <a:rPr lang="ja-JP" altLang="en-US"/>
              <a:t>\end{center}</a:t>
            </a:r>
          </a:p>
          <a:p>
            <a:r>
              <a:rPr lang="ja-JP" altLang="en-US"/>
              <a:t>ことを、\textbf{点推定}といいます。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3979877-89EF-66F0-80D2-7C77D3160FFD}"/>
              </a:ext>
            </a:extLst>
          </p:cNvPr>
          <p:cNvSpPr/>
          <p:nvPr/>
        </p:nvSpPr>
        <p:spPr>
          <a:xfrm>
            <a:off x="3980653" y="3334556"/>
            <a:ext cx="2558142" cy="890377"/>
          </a:xfrm>
          <a:prstGeom prst="rect">
            <a:avLst/>
          </a:prstGeom>
          <a:solidFill>
            <a:srgbClr val="FFFD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rgbClr val="C00000"/>
                </a:solidFill>
                <a:latin typeface="HGSoeiKakugothicUB" panose="020B0909000000000000" pitchFamily="49" charset="-128"/>
                <a:ea typeface="HGSoeiKakugothicUB" panose="020B0909000000000000" pitchFamily="49" charset="-128"/>
              </a:rPr>
              <a:t>標本から母集団の値を1つの数で推測する</a:t>
            </a:r>
            <a:endParaRPr kumimoji="1" lang="ja-JP" altLang="en-US">
              <a:solidFill>
                <a:srgbClr val="C00000"/>
              </a:solidFill>
              <a:latin typeface="HGSoeiKakugothicUB" panose="020B0909000000000000" pitchFamily="49" charset="-128"/>
              <a:ea typeface="HGSoeiKakugothicUB" panose="020B0909000000000000" pitchFamily="49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8B9EA2-0F16-87C8-C08B-3FC28D46596C}"/>
              </a:ext>
            </a:extLst>
          </p:cNvPr>
          <p:cNvSpPr/>
          <p:nvPr/>
        </p:nvSpPr>
        <p:spPr>
          <a:xfrm>
            <a:off x="3980653" y="4579662"/>
            <a:ext cx="2558142" cy="496976"/>
          </a:xfrm>
          <a:prstGeom prst="rect">
            <a:avLst/>
          </a:prstGeom>
          <a:solidFill>
            <a:srgbClr val="FFFD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rgbClr val="C00000"/>
                </a:solidFill>
                <a:latin typeface="HGSoeiKakugothicUB" panose="020B0909000000000000" pitchFamily="49" charset="-128"/>
                <a:ea typeface="HGSoeiKakugothicUB" panose="020B0909000000000000" pitchFamily="49" charset="-128"/>
              </a:rPr>
              <a:t>点推定</a:t>
            </a:r>
            <a:endParaRPr kumimoji="1" lang="ja-JP" altLang="en-US" sz="2000">
              <a:solidFill>
                <a:srgbClr val="C00000"/>
              </a:solidFill>
              <a:latin typeface="HGSoeiKakugothicUB" panose="020B0909000000000000" pitchFamily="49" charset="-128"/>
              <a:ea typeface="HGSoeiKakugothicUB" panose="020B0909000000000000" pitchFamily="49" charset="-128"/>
            </a:endParaRPr>
          </a:p>
        </p:txBody>
      </p:sp>
      <p:sp>
        <p:nvSpPr>
          <p:cNvPr id="17" name="下矢印 16">
            <a:extLst>
              <a:ext uri="{FF2B5EF4-FFF2-40B4-BE49-F238E27FC236}">
                <a16:creationId xmlns:a16="http://schemas.microsoft.com/office/drawing/2014/main" id="{754C8506-8511-DD3C-3C05-73DB68A3569A}"/>
              </a:ext>
            </a:extLst>
          </p:cNvPr>
          <p:cNvSpPr/>
          <p:nvPr/>
        </p:nvSpPr>
        <p:spPr>
          <a:xfrm>
            <a:off x="4862395" y="4224933"/>
            <a:ext cx="794658" cy="340436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013C8DF2-AA61-4DE8-94F6-BEF42502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49" y="995953"/>
            <a:ext cx="8294214" cy="46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9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9BD5-B0C0-363B-FAD8-D1768BDE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09F6D369-9D0D-C5A1-A092-1987246A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5" y="2431143"/>
            <a:ext cx="7772400" cy="4190878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C4CB06-C1CF-19B3-C74C-B893D945BAF0}"/>
              </a:ext>
            </a:extLst>
          </p:cNvPr>
          <p:cNvSpPr/>
          <p:nvPr/>
        </p:nvSpPr>
        <p:spPr>
          <a:xfrm>
            <a:off x="391885" y="1178990"/>
            <a:ext cx="8186057" cy="305096"/>
          </a:xfrm>
          <a:prstGeom prst="rect">
            <a:avLst/>
          </a:prstGeom>
          <a:solidFill>
            <a:srgbClr val="2135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D99EE1E-3936-4003-7DB1-30753F09561A}"/>
              </a:ext>
            </a:extLst>
          </p:cNvPr>
          <p:cNvSpPr/>
          <p:nvPr/>
        </p:nvSpPr>
        <p:spPr>
          <a:xfrm>
            <a:off x="566057" y="2851761"/>
            <a:ext cx="7249886" cy="305096"/>
          </a:xfrm>
          <a:prstGeom prst="rect">
            <a:avLst/>
          </a:prstGeom>
          <a:solidFill>
            <a:srgbClr val="4976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>
                <a:solidFill>
                  <a:srgbClr val="EEFFFB"/>
                </a:solidFill>
              </a:rPr>
              <a:t>これはテキストです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CBCE578-6C48-5D41-A509-4C399C5A25D0}"/>
              </a:ext>
            </a:extLst>
          </p:cNvPr>
          <p:cNvSpPr/>
          <p:nvPr/>
        </p:nvSpPr>
        <p:spPr>
          <a:xfrm>
            <a:off x="566057" y="3156857"/>
            <a:ext cx="7249886" cy="947057"/>
          </a:xfrm>
          <a:prstGeom prst="rect">
            <a:avLst/>
          </a:prstGeom>
          <a:solidFill>
            <a:schemeClr val="bg1"/>
          </a:solidFill>
          <a:ln w="28575">
            <a:solidFill>
              <a:srgbClr val="5184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ja-JP" sz="1200" dirty="0">
                <a:solidFill>
                  <a:srgbClr val="2E4A50"/>
                </a:solidFill>
              </a:rPr>
              <a:t>• </a:t>
            </a:r>
            <a:r>
              <a:rPr lang="ja-JP" altLang="en-US" sz="1200">
                <a:solidFill>
                  <a:srgbClr val="2E4A50"/>
                </a:solidFill>
              </a:rPr>
              <a:t>今日のキーワード：散布図・回帰直線・予測式</a:t>
            </a:r>
            <a:endParaRPr lang="en-US" altLang="ja-JP" sz="1200" dirty="0">
              <a:solidFill>
                <a:srgbClr val="2E4A50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ja-JP" sz="1200" dirty="0">
                <a:solidFill>
                  <a:srgbClr val="2E4A50"/>
                </a:solidFill>
              </a:rPr>
              <a:t>• </a:t>
            </a:r>
            <a:r>
              <a:rPr lang="ja-JP" altLang="en-US" sz="1200">
                <a:solidFill>
                  <a:srgbClr val="2E4A50"/>
                </a:solidFill>
              </a:rPr>
              <a:t>回帰は、正しい／間違いを決める話ではなく、未来を</a:t>
            </a:r>
          </a:p>
          <a:p>
            <a:pPr>
              <a:lnSpc>
                <a:spcPct val="150000"/>
              </a:lnSpc>
            </a:pPr>
            <a:r>
              <a:rPr lang="en-US" altLang="ja-JP" sz="1200" dirty="0">
                <a:solidFill>
                  <a:srgbClr val="2E4A50"/>
                </a:solidFill>
              </a:rPr>
              <a:t>• </a:t>
            </a:r>
            <a:r>
              <a:rPr lang="ja-JP" altLang="en-US" sz="1200">
                <a:solidFill>
                  <a:srgbClr val="2E4A50"/>
                </a:solidFill>
              </a:rPr>
              <a:t>ゴールは計算ではなく、式の意味を言葉で説明できること</a:t>
            </a:r>
          </a:p>
          <a:p>
            <a:pPr algn="ctr"/>
            <a:endParaRPr kumimoji="1" lang="ja-JP" altLang="en-US" sz="1200">
              <a:solidFill>
                <a:srgbClr val="2E4A5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9A0A63-DF95-F886-818B-0E1CE5CD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854880"/>
            <a:ext cx="7249886" cy="12934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EA792A5-3DA3-E34D-45BE-768DDD6DFCCE}"/>
              </a:ext>
            </a:extLst>
          </p:cNvPr>
          <p:cNvSpPr/>
          <p:nvPr/>
        </p:nvSpPr>
        <p:spPr>
          <a:xfrm>
            <a:off x="8294912" y="1691211"/>
            <a:ext cx="1436915" cy="739932"/>
          </a:xfrm>
          <a:prstGeom prst="rect">
            <a:avLst/>
          </a:prstGeom>
          <a:solidFill>
            <a:srgbClr val="587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D6E4983-5A4B-F795-1E3B-80F0694F5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85" y="4213995"/>
            <a:ext cx="7772400" cy="17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0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1D2779-D653-03C4-4523-2D98C24A92BE}"/>
              </a:ext>
            </a:extLst>
          </p:cNvPr>
          <p:cNvSpPr txBox="1"/>
          <p:nvPr/>
        </p:nvSpPr>
        <p:spPr>
          <a:xfrm>
            <a:off x="4654497" y="558800"/>
            <a:ext cx="3095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solidFill>
                  <a:schemeClr val="accent5">
                    <a:lumMod val="50000"/>
                  </a:schemeClr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いつも通りを知る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0159BE-A5B2-B35D-D703-314E189EF5F5}"/>
              </a:ext>
            </a:extLst>
          </p:cNvPr>
          <p:cNvSpPr txBox="1"/>
          <p:nvPr/>
        </p:nvSpPr>
        <p:spPr>
          <a:xfrm>
            <a:off x="4495799" y="1981200"/>
            <a:ext cx="3413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chemeClr val="accent5">
                    <a:lumMod val="50000"/>
                  </a:schemeClr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どれくらい珍しい？</a:t>
            </a:r>
            <a:endParaRPr kumimoji="1" lang="ja-JP" altLang="en-US" sz="3200">
              <a:solidFill>
                <a:schemeClr val="accent5">
                  <a:lumMod val="50000"/>
                </a:schemeClr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22533F-EA22-11FA-887C-3607C2EBFF12}"/>
              </a:ext>
            </a:extLst>
          </p:cNvPr>
          <p:cNvSpPr txBox="1"/>
          <p:nvPr/>
        </p:nvSpPr>
        <p:spPr>
          <a:xfrm>
            <a:off x="5347795" y="3403600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solidFill>
                  <a:schemeClr val="accent5">
                    <a:lumMod val="50000"/>
                  </a:schemeClr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判断する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64490B-01B2-E9E0-22CB-BA2F0645E9E2}"/>
              </a:ext>
            </a:extLst>
          </p:cNvPr>
          <p:cNvSpPr txBox="1"/>
          <p:nvPr/>
        </p:nvSpPr>
        <p:spPr>
          <a:xfrm>
            <a:off x="5173068" y="1104155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[</a:t>
            </a:r>
            <a:r>
              <a:rPr lang="ja-JP" altLang="en-US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平均・ばらつき</a:t>
            </a:r>
            <a:r>
              <a:rPr lang="en-US" altLang="ja-JP" dirty="0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]</a:t>
            </a:r>
            <a:endParaRPr kumimoji="1" lang="ja-JP" altLang="en-US">
              <a:solidFill>
                <a:srgbClr val="C00000"/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463835-97FC-8554-AD36-80FE11330797}"/>
              </a:ext>
            </a:extLst>
          </p:cNvPr>
          <p:cNvSpPr txBox="1"/>
          <p:nvPr/>
        </p:nvSpPr>
        <p:spPr>
          <a:xfrm>
            <a:off x="5055247" y="2528907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[</a:t>
            </a:r>
            <a:r>
              <a:rPr lang="ja-JP" altLang="en-US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平均との差を見る</a:t>
            </a:r>
            <a:r>
              <a:rPr lang="en-US" altLang="ja-JP" dirty="0">
                <a:solidFill>
                  <a:srgbClr val="C00000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]</a:t>
            </a:r>
            <a:endParaRPr kumimoji="1" lang="ja-JP" altLang="en-US">
              <a:solidFill>
                <a:srgbClr val="C00000"/>
              </a:solidFill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9" name="下矢印 8">
            <a:extLst>
              <a:ext uri="{FF2B5EF4-FFF2-40B4-BE49-F238E27FC236}">
                <a16:creationId xmlns:a16="http://schemas.microsoft.com/office/drawing/2014/main" id="{B80F0CF9-5564-C8E3-3785-B19900F70502}"/>
              </a:ext>
            </a:extLst>
          </p:cNvPr>
          <p:cNvSpPr/>
          <p:nvPr/>
        </p:nvSpPr>
        <p:spPr>
          <a:xfrm>
            <a:off x="5903906" y="1633701"/>
            <a:ext cx="596900" cy="431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D48ECB3B-18CB-EE04-CBE1-183B3F1C36ED}"/>
              </a:ext>
            </a:extLst>
          </p:cNvPr>
          <p:cNvSpPr/>
          <p:nvPr/>
        </p:nvSpPr>
        <p:spPr>
          <a:xfrm>
            <a:off x="5903906" y="3003237"/>
            <a:ext cx="596900" cy="431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E4C5F22-AF85-D806-A5C1-53F6CD01D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90" y="2065501"/>
            <a:ext cx="5565910" cy="31587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409718C-E156-5626-1105-2F5274C4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807" y="1970803"/>
            <a:ext cx="5049615" cy="34503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472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600CCD1-5E50-DDD5-3A7F-E9812D61E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0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7B3B-3950-128E-4A11-B9971F07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F1042DE3-A3E2-5B56-C16C-2519EDF50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FA6036-1DD9-84B1-7BEC-1BB6CB5BB1C5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01FF385-8362-2E8A-CF9D-31F714DD2817}"/>
                  </a:ext>
                </a:extLst>
              </p:cNvPr>
              <p:cNvSpPr txBox="1"/>
              <p:nvPr/>
            </p:nvSpPr>
            <p:spPr>
              <a:xfrm>
                <a:off x="1308100" y="2463800"/>
                <a:ext cx="6162264" cy="2314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このポテトの平均は何</a:t>
                </a:r>
                <a:r>
                  <a:rPr lang="en-US" altLang="ja-JP" dirty="0"/>
                  <a:t>g</a:t>
                </a:r>
                <a:r>
                  <a:rPr lang="ja-JP" altLang="en-US"/>
                  <a:t>になりますか？（予想）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b="1" dirty="0">
                    <a:solidFill>
                      <a:srgbClr val="0070C0"/>
                    </a:solidFill>
                  </a:rPr>
                  <a:t>Excel</a:t>
                </a:r>
                <a:r>
                  <a:rPr lang="ja-JP" altLang="en-US" b="1">
                    <a:solidFill>
                      <a:srgbClr val="0070C0"/>
                    </a:solidFill>
                  </a:rPr>
                  <a:t>で計算してみましょう</a:t>
                </a: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r>
                  <a:rPr lang="ja-JP" altLang="en-US" b="1"/>
                  <a:t>・平均</a:t>
                </a:r>
                <a:r>
                  <a:rPr lang="en-US" altLang="ja-JP" b="1" dirty="0"/>
                  <a:t>	average</a:t>
                </a:r>
                <a:r>
                  <a:rPr lang="ja-JP" altLang="en-US" b="1"/>
                  <a:t>関数</a:t>
                </a:r>
              </a:p>
              <a:p>
                <a:pPr>
                  <a:tabLst>
                    <a:tab pos="1778000" algn="l"/>
                  </a:tabLst>
                </a:pPr>
                <a:r>
                  <a:rPr lang="ja-JP" altLang="en-US" b="1"/>
                  <a:t>・標準偏差</a:t>
                </a:r>
                <a:r>
                  <a:rPr lang="en-US" altLang="ja-JP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ja-JP" altLang="en-US" b="1"/>
              </a:p>
              <a:p>
                <a:pPr>
                  <a:tabLst>
                    <a:tab pos="1778000" algn="l"/>
                  </a:tabLst>
                </a:pP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r>
                  <a:rPr lang="ja-JP" altLang="en-US"/>
                  <a:t>公表値は </a:t>
                </a:r>
                <a:r>
                  <a:rPr lang="en-US" altLang="ja-JP" dirty="0"/>
                  <a:t>135</a:t>
                </a:r>
                <a:r>
                  <a:rPr lang="en" altLang="ja-JP" dirty="0"/>
                  <a:t>g </a:t>
                </a:r>
                <a:r>
                  <a:rPr lang="ja-JP" altLang="en-US"/>
                  <a:t>だけど、この</a:t>
                </a:r>
                <a:r>
                  <a:rPr lang="en-US" altLang="ja-JP" dirty="0"/>
                  <a:t>10</a:t>
                </a:r>
                <a:r>
                  <a:rPr lang="ja-JP" altLang="en-US"/>
                  <a:t>個を見て「どう感じる」？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01FF385-8362-2E8A-CF9D-31F714DD2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100" y="2463800"/>
                <a:ext cx="6162264" cy="2314544"/>
              </a:xfrm>
              <a:prstGeom prst="rect">
                <a:avLst/>
              </a:prstGeom>
              <a:blipFill>
                <a:blip r:embed="rId3"/>
                <a:stretch>
                  <a:fillRect l="-1031" t="-543" b="-27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6BCECB-1A61-B063-66F7-7B5F936167C4}"/>
              </a:ext>
            </a:extLst>
          </p:cNvPr>
          <p:cNvSpPr txBox="1"/>
          <p:nvPr/>
        </p:nvSpPr>
        <p:spPr>
          <a:xfrm>
            <a:off x="315468" y="163889"/>
            <a:ext cx="5152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1.</a:t>
            </a:r>
            <a:r>
              <a:rPr lang="ja-JP" altLang="en-US" sz="2400" b="1"/>
              <a:t> データを見る（記述統計の復習）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3260186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92F7-9329-5809-F215-3356FA12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950B08E8-A9DF-62FF-CD75-81B62358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43FCC71-53B3-311C-3814-36AA61CD8FF6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F05C75-0B57-C295-0E97-D27DCB961C0C}"/>
              </a:ext>
            </a:extLst>
          </p:cNvPr>
          <p:cNvSpPr txBox="1"/>
          <p:nvPr/>
        </p:nvSpPr>
        <p:spPr>
          <a:xfrm>
            <a:off x="1308100" y="2463800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778000" algn="l"/>
              </a:tabLst>
            </a:pPr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に値を入れてみよう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778000" algn="l"/>
              </a:tabLst>
            </a:pPr>
            <a:r>
              <a:rPr lang="ja-JP" altLang="en-US" b="1"/>
              <a:t>・公表値（</a:t>
            </a:r>
            <a:r>
              <a:rPr lang="el-GR" altLang="ja-JP" b="1" dirty="0"/>
              <a:t>μ</a:t>
            </a:r>
            <a:r>
              <a:rPr lang="ja-JP" altLang="el-GR" b="1"/>
              <a:t>）</a:t>
            </a:r>
            <a:r>
              <a:rPr lang="en-US" altLang="ja-JP" b="1" dirty="0"/>
              <a:t>	135</a:t>
            </a:r>
          </a:p>
          <a:p>
            <a:endParaRPr kumimoji="1" lang="en-US" altLang="ja-JP" dirty="0"/>
          </a:p>
          <a:p>
            <a:r>
              <a:rPr lang="ja-JP" altLang="en-US"/>
              <a:t>ここからは</a:t>
            </a:r>
            <a:r>
              <a:rPr lang="ja-JP" altLang="en-US" b="1"/>
              <a:t>「この店の平均は </a:t>
            </a:r>
            <a:r>
              <a:rPr lang="en-US" altLang="ja-JP" b="1" dirty="0"/>
              <a:t>135</a:t>
            </a:r>
            <a:r>
              <a:rPr lang="en" altLang="ja-JP" b="1" dirty="0"/>
              <a:t>g </a:t>
            </a:r>
            <a:r>
              <a:rPr lang="ja-JP" altLang="en-US" b="1"/>
              <a:t>だと仮定する」</a:t>
            </a:r>
            <a:r>
              <a:rPr lang="ja-JP" altLang="en-US"/>
              <a:t>という立場で考えます。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もし本当に </a:t>
            </a:r>
            <a:r>
              <a:rPr lang="en-US" altLang="ja-JP" dirty="0"/>
              <a:t>135</a:t>
            </a:r>
            <a:r>
              <a:rPr lang="en" altLang="ja-JP" dirty="0"/>
              <a:t>g </a:t>
            </a:r>
            <a:r>
              <a:rPr lang="ja-JP" altLang="en-US"/>
              <a:t>だとしたら、この平均（</a:t>
            </a:r>
            <a:r>
              <a:rPr lang="en-US" altLang="ja-JP" dirty="0"/>
              <a:t>130</a:t>
            </a:r>
            <a:r>
              <a:rPr lang="en" altLang="ja-JP" dirty="0"/>
              <a:t>g</a:t>
            </a:r>
            <a:r>
              <a:rPr lang="ja-JP" altLang="en"/>
              <a:t>）</a:t>
            </a:r>
            <a:r>
              <a:rPr lang="ja-JP" altLang="en-US"/>
              <a:t>は「</a:t>
            </a:r>
            <a:r>
              <a:rPr lang="ja-JP" altLang="en-US" b="1">
                <a:solidFill>
                  <a:srgbClr val="C00000"/>
                </a:solidFill>
              </a:rPr>
              <a:t>よくある</a:t>
            </a:r>
            <a:r>
              <a:rPr lang="ja-JP" altLang="en-US"/>
              <a:t>」？「</a:t>
            </a:r>
            <a:r>
              <a:rPr lang="ja-JP" altLang="en-US" b="1">
                <a:solidFill>
                  <a:srgbClr val="C00000"/>
                </a:solidFill>
              </a:rPr>
              <a:t>珍しい</a:t>
            </a:r>
            <a:r>
              <a:rPr lang="ja-JP" altLang="en-US"/>
              <a:t>」？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9C5FFD-42D4-3DE8-583F-DD00380C6FF6}"/>
              </a:ext>
            </a:extLst>
          </p:cNvPr>
          <p:cNvSpPr txBox="1"/>
          <p:nvPr/>
        </p:nvSpPr>
        <p:spPr>
          <a:xfrm>
            <a:off x="315468" y="163889"/>
            <a:ext cx="5767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2.</a:t>
            </a:r>
            <a:r>
              <a:rPr lang="ja-JP" altLang="en-US" sz="2400" b="1"/>
              <a:t> 「仮定」を入れる（帰無仮説の導入）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69537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75EC-83E0-C7D2-15A1-C45B61D5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B833FDA9-9E2A-5AB4-2E60-5FC687EC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C71CF9-292D-B460-D6CF-5EA2A3FC0BDE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E6FE53-8F42-20A8-43BB-DF1405E44C65}"/>
              </a:ext>
            </a:extLst>
          </p:cNvPr>
          <p:cNvSpPr txBox="1"/>
          <p:nvPr/>
        </p:nvSpPr>
        <p:spPr>
          <a:xfrm>
            <a:off x="1308100" y="2463800"/>
            <a:ext cx="586731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・標準誤差</a:t>
            </a:r>
            <a:r>
              <a:rPr lang="en-US" altLang="ja-JP" b="1" dirty="0"/>
              <a:t>	1.897</a:t>
            </a:r>
            <a:endParaRPr lang="ja-JP" altLang="en-US" b="1"/>
          </a:p>
          <a:p>
            <a:pPr>
              <a:tabLst>
                <a:tab pos="1816100" algn="l"/>
              </a:tabLst>
            </a:pPr>
            <a:r>
              <a:rPr lang="ja-JP" altLang="en-US" b="1"/>
              <a:t>・</a:t>
            </a:r>
            <a:r>
              <a:rPr lang="en-US" altLang="ja-JP" b="1" dirty="0"/>
              <a:t>z</a:t>
            </a:r>
            <a:r>
              <a:rPr lang="ja-JP" altLang="en-US" b="1"/>
              <a:t>値</a:t>
            </a:r>
            <a:r>
              <a:rPr lang="en-US" altLang="ja-JP" b="1" dirty="0"/>
              <a:t>	-2.64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" altLang="ja-JP" dirty="0"/>
              <a:t>Z</a:t>
            </a:r>
            <a:r>
              <a:rPr lang="ja-JP" altLang="en-US"/>
              <a:t>値は</a:t>
            </a:r>
            <a:r>
              <a:rPr lang="ja-JP" altLang="en-US" b="1"/>
              <a:t>平均との差を「ばらつき基準で見た位置」</a:t>
            </a:r>
            <a:r>
              <a:rPr lang="ja-JP" altLang="en-US"/>
              <a:t>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" altLang="ja-JP" dirty="0"/>
              <a:t>Z = </a:t>
            </a:r>
            <a:r>
              <a:rPr lang="en" altLang="ja-JP" sz="2000" b="1" dirty="0"/>
              <a:t>-2.6 </a:t>
            </a:r>
            <a:r>
              <a:rPr lang="ja-JP" altLang="en-US"/>
              <a:t>って、分布の「</a:t>
            </a:r>
            <a:r>
              <a:rPr lang="ja-JP" altLang="en-US" b="1">
                <a:solidFill>
                  <a:srgbClr val="C00000"/>
                </a:solidFill>
              </a:rPr>
              <a:t>真ん中</a:t>
            </a:r>
            <a:r>
              <a:rPr lang="ja-JP" altLang="en-US"/>
              <a:t>」？「</a:t>
            </a:r>
            <a:r>
              <a:rPr lang="ja-JP" altLang="en-US" b="1">
                <a:solidFill>
                  <a:srgbClr val="C00000"/>
                </a:solidFill>
              </a:rPr>
              <a:t>端っこ</a:t>
            </a:r>
            <a:r>
              <a:rPr lang="ja-JP" altLang="en-US"/>
              <a:t>」？</a:t>
            </a:r>
            <a:endParaRPr kumimoji="1" lang="ja-JP" altLang="en-US"/>
          </a:p>
        </p:txBody>
      </p:sp>
      <p:pic>
        <p:nvPicPr>
          <p:cNvPr id="4101" name="Picture 5" descr="14-1. 正規分布 | 統計学の時間 | 統計WEB">
            <a:extLst>
              <a:ext uri="{FF2B5EF4-FFF2-40B4-BE49-F238E27FC236}">
                <a16:creationId xmlns:a16="http://schemas.microsoft.com/office/drawing/2014/main" id="{75C08604-A75B-9007-B8C0-86925640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880" y="2196425"/>
            <a:ext cx="3658020" cy="256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C18E531-0408-6648-CD6D-798DDF9F1557}"/>
                  </a:ext>
                </a:extLst>
              </p:cNvPr>
              <p:cNvSpPr txBox="1"/>
              <p:nvPr/>
            </p:nvSpPr>
            <p:spPr>
              <a:xfrm>
                <a:off x="2247900" y="4894203"/>
                <a:ext cx="2262158" cy="797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/>
                  <a:t>標準誤差＝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標準偏差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標本数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C18E531-0408-6648-CD6D-798DDF9F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4894203"/>
                <a:ext cx="2262158" cy="797013"/>
              </a:xfrm>
              <a:prstGeom prst="rect">
                <a:avLst/>
              </a:prstGeom>
              <a:blipFill>
                <a:blip r:embed="rId4"/>
                <a:stretch>
                  <a:fillRect l="-2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587A23E-067D-D7AB-3E63-4B964364ECD3}"/>
                  </a:ext>
                </a:extLst>
              </p:cNvPr>
              <p:cNvSpPr txBox="1"/>
              <p:nvPr/>
            </p:nvSpPr>
            <p:spPr>
              <a:xfrm>
                <a:off x="2287558" y="5935603"/>
                <a:ext cx="2704587" cy="637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z</a:t>
                </a:r>
                <a:r>
                  <a:rPr lang="ja-JP" altLang="en-US"/>
                  <a:t>値</a:t>
                </a:r>
                <a:r>
                  <a:rPr kumimoji="1" lang="ja-JP" altLang="en-US"/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母平均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標準誤差</m:t>
                        </m:r>
                      </m:den>
                    </m:f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587A23E-067D-D7AB-3E63-4B964364E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58" y="5935603"/>
                <a:ext cx="2704587" cy="637867"/>
              </a:xfrm>
              <a:prstGeom prst="rect">
                <a:avLst/>
              </a:prstGeom>
              <a:blipFill>
                <a:blip r:embed="rId5"/>
                <a:stretch>
                  <a:fillRect l="-1869" b="-78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9B7613-AEF9-78DF-DC83-9EB3AF56B455}"/>
              </a:ext>
            </a:extLst>
          </p:cNvPr>
          <p:cNvSpPr txBox="1"/>
          <p:nvPr/>
        </p:nvSpPr>
        <p:spPr>
          <a:xfrm>
            <a:off x="315468" y="163889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3.</a:t>
            </a:r>
            <a:r>
              <a:rPr lang="ja-JP" altLang="en-US" sz="2400" b="1"/>
              <a:t> </a:t>
            </a:r>
            <a:r>
              <a:rPr lang="en" altLang="ja-JP" sz="2400" b="1" dirty="0"/>
              <a:t>Z</a:t>
            </a:r>
            <a:r>
              <a:rPr lang="ja-JP" altLang="en-US" sz="2400" b="1"/>
              <a:t>値を作る（珍しさの位置）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265567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3D5A-9BB9-EE9F-BE19-EBB4E6B2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B97C5AB-733A-95E8-4E2B-482669D7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21BF23-2FD6-9033-CDC7-A1A0B3B6AD25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7F2F6A-EB03-ED06-EB77-CD34573885C1}"/>
              </a:ext>
            </a:extLst>
          </p:cNvPr>
          <p:cNvSpPr txBox="1"/>
          <p:nvPr/>
        </p:nvSpPr>
        <p:spPr>
          <a:xfrm>
            <a:off x="1308100" y="2463800"/>
            <a:ext cx="765626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</a:t>
            </a:r>
            <a:r>
              <a:rPr lang="en" altLang="ja-JP" dirty="0"/>
              <a:t>【</a:t>
            </a:r>
            <a:r>
              <a:rPr lang="en" altLang="ja-JP" b="1" dirty="0"/>
              <a:t>p</a:t>
            </a:r>
            <a:r>
              <a:rPr lang="ja-JP" altLang="en-US" b="1"/>
              <a:t>値</a:t>
            </a:r>
            <a:r>
              <a:rPr lang="en-US" altLang="ja-JP" b="1" dirty="0"/>
              <a:t>(</a:t>
            </a:r>
            <a:r>
              <a:rPr lang="ja-JP" altLang="en-US" b="1"/>
              <a:t>両側</a:t>
            </a:r>
            <a:r>
              <a:rPr lang="en-US" altLang="ja-JP" b="1" dirty="0"/>
              <a:t>)</a:t>
            </a:r>
            <a:r>
              <a:rPr lang="en-US" altLang="ja-JP" dirty="0"/>
              <a:t>】	</a:t>
            </a:r>
            <a:r>
              <a:rPr lang="en-US" altLang="ja-JP" b="1" dirty="0"/>
              <a:t>0.0084</a:t>
            </a:r>
            <a:endParaRPr lang="ja-JP" altLang="en-US" b="1"/>
          </a:p>
          <a:p>
            <a:endParaRPr lang="en-US" altLang="ja-JP" dirty="0"/>
          </a:p>
          <a:p>
            <a:r>
              <a:rPr lang="ja-JP" altLang="en-US"/>
              <a:t>この </a:t>
            </a:r>
            <a:r>
              <a:rPr lang="en" altLang="ja-JP" dirty="0"/>
              <a:t>p</a:t>
            </a:r>
            <a:r>
              <a:rPr lang="ja-JP" altLang="en-US"/>
              <a:t>値は、「</a:t>
            </a:r>
            <a:r>
              <a:rPr lang="en-US" altLang="ja-JP" dirty="0"/>
              <a:t>135</a:t>
            </a:r>
            <a:r>
              <a:rPr lang="en" altLang="ja-JP" dirty="0"/>
              <a:t>g </a:t>
            </a:r>
            <a:r>
              <a:rPr lang="ja-JP" altLang="en-US"/>
              <a:t>だと仮定したとき、これくらいズレる確率」です。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sz="2000" b="1" dirty="0"/>
              <a:t>0.8% </a:t>
            </a:r>
            <a:r>
              <a:rPr lang="ja-JP" altLang="en-US"/>
              <a:t>って、</a:t>
            </a:r>
            <a:r>
              <a:rPr lang="ja-JP" altLang="en-US" b="1">
                <a:solidFill>
                  <a:srgbClr val="C00000"/>
                </a:solidFill>
              </a:rPr>
              <a:t>多い</a:t>
            </a:r>
            <a:r>
              <a:rPr lang="ja-JP" altLang="en-US"/>
              <a:t>？</a:t>
            </a:r>
            <a:r>
              <a:rPr lang="ja-JP" altLang="en-US" b="1">
                <a:solidFill>
                  <a:srgbClr val="C00000"/>
                </a:solidFill>
              </a:rPr>
              <a:t>少ない</a:t>
            </a:r>
            <a:r>
              <a:rPr lang="ja-JP" altLang="en-US"/>
              <a:t>？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9D278B-ADDD-FD37-15B8-7226C9B4E4DC}"/>
              </a:ext>
            </a:extLst>
          </p:cNvPr>
          <p:cNvSpPr txBox="1"/>
          <p:nvPr/>
        </p:nvSpPr>
        <p:spPr>
          <a:xfrm>
            <a:off x="2336800" y="5041900"/>
            <a:ext cx="481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</a:t>
            </a:r>
            <a:r>
              <a:rPr kumimoji="1" lang="ja-JP" altLang="en-US"/>
              <a:t>値</a:t>
            </a:r>
            <a:r>
              <a:rPr lang="en-US" altLang="ja-JP" dirty="0"/>
              <a:t> = 2*(1-NORM.S.DIST(ABS(z</a:t>
            </a:r>
            <a:r>
              <a:rPr lang="ja-JP" altLang="en-US"/>
              <a:t>値</a:t>
            </a:r>
            <a:r>
              <a:rPr lang="en-US" altLang="ja-JP" dirty="0"/>
              <a:t>),TRUE))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BC6AA1-F7F8-CD27-F3D0-B3CC1C6CF965}"/>
              </a:ext>
            </a:extLst>
          </p:cNvPr>
          <p:cNvSpPr txBox="1"/>
          <p:nvPr/>
        </p:nvSpPr>
        <p:spPr>
          <a:xfrm>
            <a:off x="315468" y="163889"/>
            <a:ext cx="5638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4.</a:t>
            </a:r>
            <a:r>
              <a:rPr lang="ja-JP" altLang="en-US" sz="2400" b="1"/>
              <a:t> </a:t>
            </a:r>
            <a:r>
              <a:rPr lang="en" altLang="ja-JP" sz="2400" b="1" dirty="0"/>
              <a:t>p</a:t>
            </a:r>
            <a:r>
              <a:rPr lang="ja-JP" altLang="en-US" sz="2400" b="1"/>
              <a:t>値を初めて出す（珍しさを確率に）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239134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A7D5-CB55-179D-E8FC-08B45429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8C6294C4-8F53-CE41-5749-644ABA4B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DD00A2-636C-17C1-31D5-AD0A721CEFAC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C76E88-715A-B359-F8B3-B7F381B9DDB3}"/>
              </a:ext>
            </a:extLst>
          </p:cNvPr>
          <p:cNvSpPr txBox="1"/>
          <p:nvPr/>
        </p:nvSpPr>
        <p:spPr>
          <a:xfrm>
            <a:off x="1308100" y="2463800"/>
            <a:ext cx="61863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・有意水準</a:t>
            </a:r>
            <a:r>
              <a:rPr lang="en-US" altLang="ja-JP" dirty="0"/>
              <a:t>	</a:t>
            </a:r>
            <a:r>
              <a:rPr lang="en-US" altLang="ja-JP" b="1" dirty="0"/>
              <a:t>0.05</a:t>
            </a:r>
            <a:endParaRPr lang="ja-JP" altLang="en-US" b="1"/>
          </a:p>
          <a:p>
            <a:endParaRPr lang="en-US" altLang="ja-JP" dirty="0"/>
          </a:p>
          <a:p>
            <a:r>
              <a:rPr lang="en-US" altLang="ja-JP" dirty="0"/>
              <a:t>p</a:t>
            </a:r>
            <a:r>
              <a:rPr lang="ja-JP" altLang="en-US"/>
              <a:t>値 と 有意水準を </a:t>
            </a:r>
            <a:r>
              <a:rPr lang="ja-JP" altLang="en-US" sz="2000" b="1"/>
              <a:t>比較</a:t>
            </a:r>
            <a:endParaRPr lang="ja-JP" altLang="en-US" b="1"/>
          </a:p>
          <a:p>
            <a:r>
              <a:rPr lang="ja-JP" altLang="en-US"/>
              <a:t>判断文を </a:t>
            </a:r>
            <a:r>
              <a:rPr lang="ja-JP" altLang="en-US" sz="2000" b="1"/>
              <a:t>自分の言葉で完成</a:t>
            </a:r>
            <a:r>
              <a:rPr lang="ja-JP" altLang="en-US" sz="2000"/>
              <a:t>させましょう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/>
              <a:t>仮定した結果がほとんど起きないなら、その仮定を疑う。</a:t>
            </a:r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76934F-B4B4-53B8-E740-69F99CD02671}"/>
              </a:ext>
            </a:extLst>
          </p:cNvPr>
          <p:cNvSpPr txBox="1"/>
          <p:nvPr/>
        </p:nvSpPr>
        <p:spPr>
          <a:xfrm>
            <a:off x="315468" y="163889"/>
            <a:ext cx="5460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5.</a:t>
            </a:r>
            <a:r>
              <a:rPr lang="ja-JP" altLang="en-US" sz="2400" b="1"/>
              <a:t> 判断する（初めて有意水準を出す）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424729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6CA0-7F23-AA72-F29F-1C6540B5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D47CB52-19F0-9372-6500-F86C45B5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59FAEC-A629-172A-0AA0-E269B82C8191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21A93B-80FC-6EED-B0DB-F215659F1976}"/>
              </a:ext>
            </a:extLst>
          </p:cNvPr>
          <p:cNvSpPr txBox="1"/>
          <p:nvPr/>
        </p:nvSpPr>
        <p:spPr>
          <a:xfrm>
            <a:off x="1308100" y="2463800"/>
            <a:ext cx="86757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</a:t>
            </a:r>
            <a:r>
              <a:rPr lang="ja-JP" altLang="en-US"/>
              <a:t>値と有意水準の比較</a:t>
            </a:r>
          </a:p>
          <a:p>
            <a:endParaRPr lang="ja-JP" altLang="en-US"/>
          </a:p>
          <a:p>
            <a:r>
              <a:rPr lang="ja-JP" altLang="en-US"/>
              <a:t>帰無仮説を棄却</a:t>
            </a:r>
          </a:p>
          <a:p>
            <a:endParaRPr lang="ja-JP" altLang="en-US"/>
          </a:p>
          <a:p>
            <a:r>
              <a:rPr lang="ja-JP" altLang="en-US"/>
              <a:t>これは、「フライドポテトの平均重量が公表値 </a:t>
            </a:r>
            <a:r>
              <a:rPr lang="en-US" altLang="ja-JP" dirty="0"/>
              <a:t>135g </a:t>
            </a:r>
            <a:r>
              <a:rPr lang="ja-JP" altLang="en-US"/>
              <a:t>である」と仮定した場合に、</a:t>
            </a:r>
          </a:p>
          <a:p>
            <a:r>
              <a:rPr lang="ja-JP" altLang="en-US"/>
              <a:t>今回のような標本平均が得られる確率が</a:t>
            </a:r>
            <a:r>
              <a:rPr lang="en-US" altLang="ja-JP" dirty="0"/>
              <a:t>5%</a:t>
            </a:r>
            <a:r>
              <a:rPr lang="ja-JP" altLang="en-US"/>
              <a:t>よりも小さいことを意味する。</a:t>
            </a:r>
          </a:p>
          <a:p>
            <a:r>
              <a:rPr lang="ja-JP" altLang="en-US"/>
              <a:t>つまり、この結果は偶然としては非常に起こりにくいと判断できる。</a:t>
            </a:r>
          </a:p>
          <a:p>
            <a:r>
              <a:rPr lang="ja-JP" altLang="en-US"/>
              <a:t>したがって、この店のポテトは公表値</a:t>
            </a:r>
            <a:r>
              <a:rPr lang="en-US" altLang="ja-JP" dirty="0"/>
              <a:t>135g</a:t>
            </a:r>
            <a:r>
              <a:rPr lang="ja-JP" altLang="en-US"/>
              <a:t>どおりとは言えない。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217563-7877-9C22-1102-1D7CC0B1019F}"/>
              </a:ext>
            </a:extLst>
          </p:cNvPr>
          <p:cNvSpPr txBox="1"/>
          <p:nvPr/>
        </p:nvSpPr>
        <p:spPr>
          <a:xfrm>
            <a:off x="315468" y="163889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6.</a:t>
            </a:r>
            <a:r>
              <a:rPr lang="ja-JP" altLang="en-US" sz="2400" b="1"/>
              <a:t> 最終判断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358783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6003</TotalTime>
  <Words>603</Words>
  <Application>Microsoft Macintosh PowerPoint</Application>
  <PresentationFormat>ワイド画面</PresentationFormat>
  <Paragraphs>81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HGPSoeiKakugothicUB</vt:lpstr>
      <vt:lpstr>HGSoeiKakugothicUB</vt:lpstr>
      <vt:lpstr>Hiragino Kaku Gothic Std W8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道和 岡井</dc:creator>
  <cp:lastModifiedBy>道和 岡井</cp:lastModifiedBy>
  <cp:revision>3</cp:revision>
  <dcterms:created xsi:type="dcterms:W3CDTF">2025-12-31T23:51:54Z</dcterms:created>
  <dcterms:modified xsi:type="dcterms:W3CDTF">2026-01-08T06:00:56Z</dcterms:modified>
</cp:coreProperties>
</file>
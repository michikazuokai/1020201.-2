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9" r:id="rId2"/>
    <p:sldId id="260" r:id="rId3"/>
    <p:sldId id="266" r:id="rId4"/>
    <p:sldId id="261" r:id="rId5"/>
    <p:sldId id="262" r:id="rId6"/>
    <p:sldId id="263" r:id="rId7"/>
    <p:sldId id="265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60E1F-E99D-0145-802D-844E0AB5A000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02491C-1C02-9E4E-BB70-388EA268ED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0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02491C-1C02-9E4E-BB70-388EA268EDC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735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90BDA6-5D54-E59C-2D3C-DC9412D0F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2991A66-25B5-FFF5-FEDF-8B4CF2098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BD9E2D-FEEF-92D7-C58A-FDB36DD21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F9734E-BB25-EE9C-0F3F-8EB4D710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4E5474-2E57-8488-6166-D2F23CA2D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8907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009C14-8DC2-8E35-67A0-FE4FC0B3A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219E2F-845A-04A2-8550-C2C1AD531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BE070D-10E8-E399-FEB8-4E6234807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71DB40-A1BB-E4BF-CB1D-3A79500DF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A3E17B-F2F5-D2AB-462D-DD1403066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5702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42728A-E379-C2D4-52F3-9D3F6D3C2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D3B148-DA32-25DD-EF65-527B58B03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E05A1D-3A22-9625-76B2-6312A2A95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89B584-4FCF-CBF5-0DFE-F472D807E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D556BB-3690-5710-432A-4C576958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0035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CB2985-5F87-5F86-E6DB-6425A5931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1C3F09-1CD4-BF09-BD16-B3AE12A8F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502AE7-2025-26D2-83AA-83C5CA426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34ABCA-61A5-C834-C041-5B7256293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A73CD9-F8C4-BA5E-1A37-73609F24E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A4492C-17F2-28B0-88A2-C5CECF0D7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9944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DB66E7-3110-9843-4DEB-4F31608DC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7E124CD-7617-DCD7-7637-0DBCE75FF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826716-4BE9-06FB-2FFA-E2AD3786A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6EE9FF8-25D6-A715-DBAD-A66F1A0A5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79C39A5-4501-C0B2-EB61-C63724D3CD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8C2B9BF-4584-11F8-2EDB-CA86C6A48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71D7EBE-3684-F1CD-9373-E3882C245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112DDE2-6AE4-B68F-C2AF-135174FA2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690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AFF5D4-9680-2A9F-2789-44CCD165A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DBD0DCC-6906-7E0F-6019-E2738BCF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6000BE3-152D-07FD-DCA2-D2C5C0970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C388DC0-85CA-17E3-1505-E722D958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0070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785AEDF-D9DA-D180-8750-17785567B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45CBB40-2D7C-50A5-1B26-2EF0BBE7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E5CA291-B9CA-2D77-61D3-3D73908FA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6007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E3EA0C-4AE9-7C17-0871-98C0CFE12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00555F-922B-8E8D-FB09-CEDBFBE64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8429A38-7ADD-7242-541B-DD34A1CC7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FB82D1-5293-0D7C-382A-B103175A4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265B81-CD95-9FC9-4D0A-1625D6942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A118068-97D0-0DB0-7147-F56F1F89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1318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3AFD23-BB01-B997-2F76-C870665C8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E3A3571-4B46-8FE8-5E0C-069753E6A5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5D9CDE-C4B3-0A45-0087-7DAC96222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7ACFBB-4F60-2AED-57BF-69E5E17E3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C3D3914-CDDA-5CEB-EFC3-BE62E835D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6320A8-A842-F241-C35F-280F1314C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7019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D51778-04AC-8D4A-D79F-EFE17DAEE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F7A9D53-0C72-FC8E-4CCA-92354A5B1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F2A7FB-8BE2-7425-1FDC-90E150188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8DC9E0-404E-36CB-A2E2-592810486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55183D-EA0A-864A-15BE-55F70FA8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9681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34ABA95-F3FD-2F82-8FDB-F400B9F5B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B6F719E-3428-A3C6-819C-F6FE2710E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76488A-093E-5D33-E0EC-7A489E685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D8C9A-FBDC-C84F-80DF-4E0DE73F20B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44D219-7D87-975F-7BAE-A06D14D47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EC5594-84C2-7F25-E043-78891A0C8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127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21714D6-7D74-033E-EB76-760169407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DFF16D-3F9E-990C-90E9-543781502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8A8908-8323-13E5-E021-0D26021308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D8C9A-FBDC-C84F-80DF-4E0DE73F20B1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1B87E6-1900-32BD-EA82-9B57B0F43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FBE3D2-08C4-E05B-8BA7-8ECFEB31A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CA8B2-AAFB-A740-98AB-8A6822873A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068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E600CCD1-5E50-DDD5-3A7F-E9812D61E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60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37B3B-3950-128E-4A11-B9971F074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F1042DE3-A3E2-5B56-C16C-2519EDF50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" y="793571"/>
            <a:ext cx="11071780" cy="114952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7FA6036-1DD9-84B1-7BEC-1BB6CB5BB1C5}"/>
              </a:ext>
            </a:extLst>
          </p:cNvPr>
          <p:cNvSpPr/>
          <p:nvPr/>
        </p:nvSpPr>
        <p:spPr>
          <a:xfrm>
            <a:off x="5943600" y="806271"/>
            <a:ext cx="5156200" cy="387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201FF385-8362-2E8A-CF9D-31F714DD2817}"/>
                  </a:ext>
                </a:extLst>
              </p:cNvPr>
              <p:cNvSpPr txBox="1"/>
              <p:nvPr/>
            </p:nvSpPr>
            <p:spPr>
              <a:xfrm>
                <a:off x="1308100" y="2463800"/>
                <a:ext cx="6162264" cy="23145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/>
                  <a:t>このポテトの平均は何</a:t>
                </a:r>
                <a:r>
                  <a:rPr lang="en-US" altLang="ja-JP" dirty="0"/>
                  <a:t>g</a:t>
                </a:r>
                <a:r>
                  <a:rPr lang="ja-JP" altLang="en-US"/>
                  <a:t>になりますか？（予想）</a:t>
                </a:r>
                <a:endParaRPr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b="1" dirty="0">
                    <a:solidFill>
                      <a:srgbClr val="0070C0"/>
                    </a:solidFill>
                  </a:rPr>
                  <a:t>Excel</a:t>
                </a:r>
                <a:r>
                  <a:rPr lang="ja-JP" altLang="en-US" b="1">
                    <a:solidFill>
                      <a:srgbClr val="0070C0"/>
                    </a:solidFill>
                  </a:rPr>
                  <a:t>で計算してみましょう</a:t>
                </a:r>
                <a:endParaRPr lang="en-US" altLang="ja-JP" dirty="0"/>
              </a:p>
              <a:p>
                <a:pPr>
                  <a:tabLst>
                    <a:tab pos="1778000" algn="l"/>
                  </a:tabLst>
                </a:pPr>
                <a:r>
                  <a:rPr lang="ja-JP" altLang="en-US" b="1"/>
                  <a:t>・平均</a:t>
                </a:r>
                <a:r>
                  <a:rPr lang="en-US" altLang="ja-JP" b="1" dirty="0"/>
                  <a:t>	average</a:t>
                </a:r>
                <a:r>
                  <a:rPr lang="ja-JP" altLang="en-US" b="1"/>
                  <a:t>関数</a:t>
                </a:r>
              </a:p>
              <a:p>
                <a:pPr>
                  <a:tabLst>
                    <a:tab pos="1778000" algn="l"/>
                  </a:tabLst>
                </a:pPr>
                <a:r>
                  <a:rPr lang="ja-JP" altLang="en-US" b="1"/>
                  <a:t>・標準偏差</a:t>
                </a:r>
                <a:r>
                  <a:rPr lang="en-US" altLang="ja-JP" b="1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US" altLang="ja-JP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𝟑𝟔</m:t>
                    </m:r>
                  </m:oMath>
                </a14:m>
                <a:endParaRPr lang="ja-JP" altLang="en-US" b="1"/>
              </a:p>
              <a:p>
                <a:pPr>
                  <a:tabLst>
                    <a:tab pos="1778000" algn="l"/>
                  </a:tabLst>
                </a:pPr>
                <a:endParaRPr lang="en-US" altLang="ja-JP" dirty="0"/>
              </a:p>
              <a:p>
                <a:pPr>
                  <a:tabLst>
                    <a:tab pos="1778000" algn="l"/>
                  </a:tabLst>
                </a:pPr>
                <a:endParaRPr lang="en-US" altLang="ja-JP" dirty="0"/>
              </a:p>
              <a:p>
                <a:pPr>
                  <a:tabLst>
                    <a:tab pos="1778000" algn="l"/>
                  </a:tabLst>
                </a:pPr>
                <a:r>
                  <a:rPr lang="ja-JP" altLang="en-US"/>
                  <a:t>公表値は </a:t>
                </a:r>
                <a:r>
                  <a:rPr lang="en-US" altLang="ja-JP" dirty="0"/>
                  <a:t>135</a:t>
                </a:r>
                <a:r>
                  <a:rPr lang="en" altLang="ja-JP" dirty="0"/>
                  <a:t>g </a:t>
                </a:r>
                <a:r>
                  <a:rPr lang="ja-JP" altLang="en-US"/>
                  <a:t>だけど、この</a:t>
                </a:r>
                <a:r>
                  <a:rPr lang="en-US" altLang="ja-JP" dirty="0"/>
                  <a:t>10</a:t>
                </a:r>
                <a:r>
                  <a:rPr lang="ja-JP" altLang="en-US"/>
                  <a:t>個を見て「どう感じる」？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201FF385-8362-2E8A-CF9D-31F714DD2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100" y="2463800"/>
                <a:ext cx="6162264" cy="2314544"/>
              </a:xfrm>
              <a:prstGeom prst="rect">
                <a:avLst/>
              </a:prstGeom>
              <a:blipFill>
                <a:blip r:embed="rId3"/>
                <a:stretch>
                  <a:fillRect l="-1031" t="-543" b="-27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F6BCECB-1A61-B063-66F7-7B5F936167C4}"/>
              </a:ext>
            </a:extLst>
          </p:cNvPr>
          <p:cNvSpPr txBox="1"/>
          <p:nvPr/>
        </p:nvSpPr>
        <p:spPr>
          <a:xfrm>
            <a:off x="315468" y="163889"/>
            <a:ext cx="5152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1.</a:t>
            </a:r>
            <a:r>
              <a:rPr lang="ja-JP" altLang="en-US" sz="2400" b="1"/>
              <a:t> データを見る（記述統計の復習）</a:t>
            </a:r>
            <a:endParaRPr kumimoji="1" lang="ja-JP" altLang="en-US" sz="2400" b="1"/>
          </a:p>
        </p:txBody>
      </p:sp>
    </p:spTree>
    <p:extLst>
      <p:ext uri="{BB962C8B-B14F-4D97-AF65-F5344CB8AC3E}">
        <p14:creationId xmlns:p14="http://schemas.microsoft.com/office/powerpoint/2010/main" val="3260186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F92F7-9329-5809-F215-3356FA12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950B08E8-A9DF-62FF-CD75-81B62358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" y="793571"/>
            <a:ext cx="11071780" cy="114952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43FCC71-53B3-311C-3814-36AA61CD8FF6}"/>
              </a:ext>
            </a:extLst>
          </p:cNvPr>
          <p:cNvSpPr/>
          <p:nvPr/>
        </p:nvSpPr>
        <p:spPr>
          <a:xfrm>
            <a:off x="5943600" y="806271"/>
            <a:ext cx="5156200" cy="387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F05C75-0B57-C295-0E97-D27DCB961C0C}"/>
              </a:ext>
            </a:extLst>
          </p:cNvPr>
          <p:cNvSpPr txBox="1"/>
          <p:nvPr/>
        </p:nvSpPr>
        <p:spPr>
          <a:xfrm>
            <a:off x="1308100" y="2463800"/>
            <a:ext cx="84946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778000" algn="l"/>
              </a:tabLst>
            </a:pPr>
            <a:r>
              <a:rPr lang="en-US" altLang="ja-JP" b="1" dirty="0">
                <a:solidFill>
                  <a:srgbClr val="0070C0"/>
                </a:solidFill>
              </a:rPr>
              <a:t>Excel</a:t>
            </a:r>
            <a:r>
              <a:rPr lang="ja-JP" altLang="en-US" b="1">
                <a:solidFill>
                  <a:srgbClr val="0070C0"/>
                </a:solidFill>
              </a:rPr>
              <a:t>に値を入れてみよう</a:t>
            </a:r>
            <a:endParaRPr lang="en-US" altLang="ja-JP" b="1" dirty="0">
              <a:solidFill>
                <a:srgbClr val="0070C0"/>
              </a:solidFill>
            </a:endParaRPr>
          </a:p>
          <a:p>
            <a:pPr>
              <a:tabLst>
                <a:tab pos="1778000" algn="l"/>
              </a:tabLst>
            </a:pPr>
            <a:r>
              <a:rPr lang="ja-JP" altLang="en-US" b="1"/>
              <a:t>・公表値（</a:t>
            </a:r>
            <a:r>
              <a:rPr lang="el-GR" altLang="ja-JP" b="1" dirty="0"/>
              <a:t>μ</a:t>
            </a:r>
            <a:r>
              <a:rPr lang="ja-JP" altLang="el-GR" b="1"/>
              <a:t>）</a:t>
            </a:r>
            <a:r>
              <a:rPr lang="en-US" altLang="ja-JP" b="1" dirty="0"/>
              <a:t>	135</a:t>
            </a:r>
          </a:p>
          <a:p>
            <a:endParaRPr kumimoji="1" lang="en-US" altLang="ja-JP" dirty="0"/>
          </a:p>
          <a:p>
            <a:r>
              <a:rPr lang="ja-JP" altLang="en-US"/>
              <a:t>ここからは</a:t>
            </a:r>
            <a:r>
              <a:rPr lang="ja-JP" altLang="en-US" b="1"/>
              <a:t>「この店の平均は </a:t>
            </a:r>
            <a:r>
              <a:rPr lang="en-US" altLang="ja-JP" b="1" dirty="0"/>
              <a:t>135</a:t>
            </a:r>
            <a:r>
              <a:rPr lang="en" altLang="ja-JP" b="1" dirty="0"/>
              <a:t>g </a:t>
            </a:r>
            <a:r>
              <a:rPr lang="ja-JP" altLang="en-US" b="1"/>
              <a:t>だと仮定する」</a:t>
            </a:r>
            <a:r>
              <a:rPr lang="ja-JP" altLang="en-US"/>
              <a:t>という立場で考えます。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/>
              <a:t>もし本当に </a:t>
            </a:r>
            <a:r>
              <a:rPr lang="en-US" altLang="ja-JP" dirty="0"/>
              <a:t>135</a:t>
            </a:r>
            <a:r>
              <a:rPr lang="en" altLang="ja-JP" dirty="0"/>
              <a:t>g </a:t>
            </a:r>
            <a:r>
              <a:rPr lang="ja-JP" altLang="en-US"/>
              <a:t>だとしたら、この平均（</a:t>
            </a:r>
            <a:r>
              <a:rPr lang="en-US" altLang="ja-JP" dirty="0"/>
              <a:t>130</a:t>
            </a:r>
            <a:r>
              <a:rPr lang="en" altLang="ja-JP" dirty="0"/>
              <a:t>g</a:t>
            </a:r>
            <a:r>
              <a:rPr lang="ja-JP" altLang="en"/>
              <a:t>）</a:t>
            </a:r>
            <a:r>
              <a:rPr lang="ja-JP" altLang="en-US"/>
              <a:t>は「</a:t>
            </a:r>
            <a:r>
              <a:rPr lang="ja-JP" altLang="en-US" b="1">
                <a:solidFill>
                  <a:srgbClr val="C00000"/>
                </a:solidFill>
              </a:rPr>
              <a:t>よくある</a:t>
            </a:r>
            <a:r>
              <a:rPr lang="ja-JP" altLang="en-US"/>
              <a:t>」？「</a:t>
            </a:r>
            <a:r>
              <a:rPr lang="ja-JP" altLang="en-US" b="1">
                <a:solidFill>
                  <a:srgbClr val="C00000"/>
                </a:solidFill>
              </a:rPr>
              <a:t>珍しい</a:t>
            </a:r>
            <a:r>
              <a:rPr lang="ja-JP" altLang="en-US"/>
              <a:t>」？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69C5FFD-42D4-3DE8-583F-DD00380C6FF6}"/>
              </a:ext>
            </a:extLst>
          </p:cNvPr>
          <p:cNvSpPr txBox="1"/>
          <p:nvPr/>
        </p:nvSpPr>
        <p:spPr>
          <a:xfrm>
            <a:off x="315468" y="163889"/>
            <a:ext cx="5767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2.</a:t>
            </a:r>
            <a:r>
              <a:rPr lang="ja-JP" altLang="en-US" sz="2400" b="1"/>
              <a:t> 「仮定」を入れる（帰無仮説の導入）</a:t>
            </a:r>
            <a:endParaRPr kumimoji="1" lang="ja-JP" altLang="en-US" sz="2400" b="1"/>
          </a:p>
        </p:txBody>
      </p:sp>
    </p:spTree>
    <p:extLst>
      <p:ext uri="{BB962C8B-B14F-4D97-AF65-F5344CB8AC3E}">
        <p14:creationId xmlns:p14="http://schemas.microsoft.com/office/powerpoint/2010/main" val="69537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475EC-83E0-C7D2-15A1-C45B61D5F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B833FDA9-9E2A-5AB4-2E60-5FC687EC2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" y="793571"/>
            <a:ext cx="11071780" cy="114952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2C71CF9-292D-B460-D6CF-5EA2A3FC0BDE}"/>
              </a:ext>
            </a:extLst>
          </p:cNvPr>
          <p:cNvSpPr/>
          <p:nvPr/>
        </p:nvSpPr>
        <p:spPr>
          <a:xfrm>
            <a:off x="5943600" y="806271"/>
            <a:ext cx="5156200" cy="387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BE6FE53-8F42-20A8-43BB-DF1405E44C65}"/>
              </a:ext>
            </a:extLst>
          </p:cNvPr>
          <p:cNvSpPr txBox="1"/>
          <p:nvPr/>
        </p:nvSpPr>
        <p:spPr>
          <a:xfrm>
            <a:off x="1308100" y="2463800"/>
            <a:ext cx="586731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0070C0"/>
                </a:solidFill>
              </a:rPr>
              <a:t>Excel</a:t>
            </a:r>
            <a:r>
              <a:rPr lang="ja-JP" altLang="en-US" b="1">
                <a:solidFill>
                  <a:srgbClr val="0070C0"/>
                </a:solidFill>
              </a:rPr>
              <a:t>の次の値をセルに入れましょう</a:t>
            </a:r>
            <a:endParaRPr lang="en-US" altLang="ja-JP" b="1" dirty="0">
              <a:solidFill>
                <a:srgbClr val="0070C0"/>
              </a:solidFill>
            </a:endParaRPr>
          </a:p>
          <a:p>
            <a:pPr>
              <a:tabLst>
                <a:tab pos="1816100" algn="l"/>
              </a:tabLst>
            </a:pPr>
            <a:r>
              <a:rPr lang="ja-JP" altLang="en-US" b="1"/>
              <a:t>・標準誤差</a:t>
            </a:r>
            <a:r>
              <a:rPr lang="en-US" altLang="ja-JP" b="1" dirty="0"/>
              <a:t>	1.897</a:t>
            </a:r>
            <a:endParaRPr lang="ja-JP" altLang="en-US" b="1"/>
          </a:p>
          <a:p>
            <a:pPr>
              <a:tabLst>
                <a:tab pos="1816100" algn="l"/>
              </a:tabLst>
            </a:pPr>
            <a:r>
              <a:rPr lang="ja-JP" altLang="en-US" b="1"/>
              <a:t>・</a:t>
            </a:r>
            <a:r>
              <a:rPr lang="en-US" altLang="ja-JP" b="1" dirty="0"/>
              <a:t>z</a:t>
            </a:r>
            <a:r>
              <a:rPr lang="ja-JP" altLang="en-US" b="1"/>
              <a:t>値</a:t>
            </a:r>
            <a:r>
              <a:rPr lang="en-US" altLang="ja-JP" b="1" dirty="0"/>
              <a:t>	-2.64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en" altLang="ja-JP" dirty="0"/>
              <a:t>Z</a:t>
            </a:r>
            <a:r>
              <a:rPr lang="ja-JP" altLang="en-US"/>
              <a:t>値は</a:t>
            </a:r>
            <a:r>
              <a:rPr lang="ja-JP" altLang="en-US" b="1"/>
              <a:t>平均との差を「ばらつき基準で見た位置」</a:t>
            </a:r>
            <a:r>
              <a:rPr lang="ja-JP" altLang="en-US"/>
              <a:t>です。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" altLang="ja-JP" dirty="0"/>
              <a:t>Z = </a:t>
            </a:r>
            <a:r>
              <a:rPr lang="en" altLang="ja-JP" sz="2000" b="1" dirty="0"/>
              <a:t>-2.6 </a:t>
            </a:r>
            <a:r>
              <a:rPr lang="ja-JP" altLang="en-US"/>
              <a:t>って、分布の「</a:t>
            </a:r>
            <a:r>
              <a:rPr lang="ja-JP" altLang="en-US" b="1">
                <a:solidFill>
                  <a:srgbClr val="C00000"/>
                </a:solidFill>
              </a:rPr>
              <a:t>真ん中</a:t>
            </a:r>
            <a:r>
              <a:rPr lang="ja-JP" altLang="en-US"/>
              <a:t>」？「</a:t>
            </a:r>
            <a:r>
              <a:rPr lang="ja-JP" altLang="en-US" b="1">
                <a:solidFill>
                  <a:srgbClr val="C00000"/>
                </a:solidFill>
              </a:rPr>
              <a:t>端っこ</a:t>
            </a:r>
            <a:r>
              <a:rPr lang="ja-JP" altLang="en-US"/>
              <a:t>」？</a:t>
            </a:r>
            <a:endParaRPr kumimoji="1" lang="ja-JP" altLang="en-US"/>
          </a:p>
        </p:txBody>
      </p:sp>
      <p:pic>
        <p:nvPicPr>
          <p:cNvPr id="4101" name="Picture 5" descr="14-1. 正規分布 | 統計学の時間 | 統計WEB">
            <a:extLst>
              <a:ext uri="{FF2B5EF4-FFF2-40B4-BE49-F238E27FC236}">
                <a16:creationId xmlns:a16="http://schemas.microsoft.com/office/drawing/2014/main" id="{75C08604-A75B-9007-B8C0-869256400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5880" y="2196425"/>
            <a:ext cx="3658020" cy="256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AC18E531-0408-6648-CD6D-798DDF9F1557}"/>
                  </a:ext>
                </a:extLst>
              </p:cNvPr>
              <p:cNvSpPr txBox="1"/>
              <p:nvPr/>
            </p:nvSpPr>
            <p:spPr>
              <a:xfrm>
                <a:off x="2247900" y="4894203"/>
                <a:ext cx="2262158" cy="7970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/>
                  <a:t>標準誤差＝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標準偏差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標本数</m:t>
                            </m:r>
                          </m:e>
                        </m:rad>
                      </m:den>
                    </m:f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AC18E531-0408-6648-CD6D-798DDF9F1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900" y="4894203"/>
                <a:ext cx="2262158" cy="797013"/>
              </a:xfrm>
              <a:prstGeom prst="rect">
                <a:avLst/>
              </a:prstGeom>
              <a:blipFill>
                <a:blip r:embed="rId4"/>
                <a:stretch>
                  <a:fillRect l="-27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5587A23E-067D-D7AB-3E63-4B964364ECD3}"/>
                  </a:ext>
                </a:extLst>
              </p:cNvPr>
              <p:cNvSpPr txBox="1"/>
              <p:nvPr/>
            </p:nvSpPr>
            <p:spPr>
              <a:xfrm>
                <a:off x="2287558" y="5935603"/>
                <a:ext cx="2704587" cy="6378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/>
                  <a:t>z</a:t>
                </a:r>
                <a:r>
                  <a:rPr lang="ja-JP" altLang="en-US"/>
                  <a:t>値</a:t>
                </a:r>
                <a:r>
                  <a:rPr kumimoji="1" lang="ja-JP" altLang="en-US"/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標本平均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母平均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標準誤差</m:t>
                        </m:r>
                      </m:den>
                    </m:f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5587A23E-067D-D7AB-3E63-4B964364E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558" y="5935603"/>
                <a:ext cx="2704587" cy="637867"/>
              </a:xfrm>
              <a:prstGeom prst="rect">
                <a:avLst/>
              </a:prstGeom>
              <a:blipFill>
                <a:blip r:embed="rId5"/>
                <a:stretch>
                  <a:fillRect l="-1869" b="-78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D9B7613-AEF9-78DF-DC83-9EB3AF56B455}"/>
              </a:ext>
            </a:extLst>
          </p:cNvPr>
          <p:cNvSpPr txBox="1"/>
          <p:nvPr/>
        </p:nvSpPr>
        <p:spPr>
          <a:xfrm>
            <a:off x="315468" y="163889"/>
            <a:ext cx="4602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3.</a:t>
            </a:r>
            <a:r>
              <a:rPr lang="ja-JP" altLang="en-US" sz="2400" b="1"/>
              <a:t> </a:t>
            </a:r>
            <a:r>
              <a:rPr lang="en" altLang="ja-JP" sz="2400" b="1" dirty="0"/>
              <a:t>Z</a:t>
            </a:r>
            <a:r>
              <a:rPr lang="ja-JP" altLang="en-US" sz="2400" b="1"/>
              <a:t>値を作る（珍しさの位置）</a:t>
            </a:r>
            <a:endParaRPr kumimoji="1" lang="ja-JP" altLang="en-US" sz="2400" b="1"/>
          </a:p>
        </p:txBody>
      </p:sp>
    </p:spTree>
    <p:extLst>
      <p:ext uri="{BB962C8B-B14F-4D97-AF65-F5344CB8AC3E}">
        <p14:creationId xmlns:p14="http://schemas.microsoft.com/office/powerpoint/2010/main" val="2655676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C3D5A-9BB9-EE9F-BE19-EBB4E6B2F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4B97C5AB-733A-95E8-4E2B-482669D78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" y="793571"/>
            <a:ext cx="11071780" cy="114952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C21BF23-2FD6-9033-CDC7-A1A0B3B6AD25}"/>
              </a:ext>
            </a:extLst>
          </p:cNvPr>
          <p:cNvSpPr/>
          <p:nvPr/>
        </p:nvSpPr>
        <p:spPr>
          <a:xfrm>
            <a:off x="5943600" y="806271"/>
            <a:ext cx="5156200" cy="387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77F2F6A-EB03-ED06-EB77-CD34573885C1}"/>
              </a:ext>
            </a:extLst>
          </p:cNvPr>
          <p:cNvSpPr txBox="1"/>
          <p:nvPr/>
        </p:nvSpPr>
        <p:spPr>
          <a:xfrm>
            <a:off x="1308100" y="2463800"/>
            <a:ext cx="7656263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0070C0"/>
                </a:solidFill>
              </a:rPr>
              <a:t>Excel</a:t>
            </a:r>
            <a:r>
              <a:rPr lang="ja-JP" altLang="en-US" b="1">
                <a:solidFill>
                  <a:srgbClr val="0070C0"/>
                </a:solidFill>
              </a:rPr>
              <a:t>の次の値をセルに入れましょう</a:t>
            </a:r>
            <a:endParaRPr lang="en-US" altLang="ja-JP" b="1" dirty="0">
              <a:solidFill>
                <a:srgbClr val="0070C0"/>
              </a:solidFill>
            </a:endParaRPr>
          </a:p>
          <a:p>
            <a:pPr>
              <a:tabLst>
                <a:tab pos="1816100" algn="l"/>
              </a:tabLst>
            </a:pPr>
            <a:r>
              <a:rPr lang="ja-JP" altLang="en-US" b="1"/>
              <a:t>・</a:t>
            </a:r>
            <a:r>
              <a:rPr lang="en" altLang="ja-JP" dirty="0"/>
              <a:t>【</a:t>
            </a:r>
            <a:r>
              <a:rPr lang="en" altLang="ja-JP" b="1" dirty="0"/>
              <a:t>p</a:t>
            </a:r>
            <a:r>
              <a:rPr lang="ja-JP" altLang="en-US" b="1"/>
              <a:t>値</a:t>
            </a:r>
            <a:r>
              <a:rPr lang="en-US" altLang="ja-JP" b="1" dirty="0"/>
              <a:t>(</a:t>
            </a:r>
            <a:r>
              <a:rPr lang="ja-JP" altLang="en-US" b="1"/>
              <a:t>両側</a:t>
            </a:r>
            <a:r>
              <a:rPr lang="en-US" altLang="ja-JP" b="1" dirty="0"/>
              <a:t>)</a:t>
            </a:r>
            <a:r>
              <a:rPr lang="en-US" altLang="ja-JP" dirty="0"/>
              <a:t>】	</a:t>
            </a:r>
            <a:r>
              <a:rPr lang="en-US" altLang="ja-JP" b="1" dirty="0"/>
              <a:t>0.0084</a:t>
            </a:r>
            <a:endParaRPr lang="ja-JP" altLang="en-US" b="1"/>
          </a:p>
          <a:p>
            <a:endParaRPr lang="en-US" altLang="ja-JP" dirty="0"/>
          </a:p>
          <a:p>
            <a:r>
              <a:rPr lang="ja-JP" altLang="en-US"/>
              <a:t>この </a:t>
            </a:r>
            <a:r>
              <a:rPr lang="en" altLang="ja-JP" dirty="0"/>
              <a:t>p</a:t>
            </a:r>
            <a:r>
              <a:rPr lang="ja-JP" altLang="en-US"/>
              <a:t>値は、「</a:t>
            </a:r>
            <a:r>
              <a:rPr lang="en-US" altLang="ja-JP" dirty="0"/>
              <a:t>135</a:t>
            </a:r>
            <a:r>
              <a:rPr lang="en" altLang="ja-JP" dirty="0"/>
              <a:t>g </a:t>
            </a:r>
            <a:r>
              <a:rPr lang="ja-JP" altLang="en-US"/>
              <a:t>だと仮定したとき、これくらいズレる確率」です。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sz="2000" b="1" dirty="0"/>
              <a:t>0.8% </a:t>
            </a:r>
            <a:r>
              <a:rPr lang="ja-JP" altLang="en-US"/>
              <a:t>って、</a:t>
            </a:r>
            <a:r>
              <a:rPr lang="ja-JP" altLang="en-US" b="1">
                <a:solidFill>
                  <a:srgbClr val="C00000"/>
                </a:solidFill>
              </a:rPr>
              <a:t>多い</a:t>
            </a:r>
            <a:r>
              <a:rPr lang="ja-JP" altLang="en-US"/>
              <a:t>？</a:t>
            </a:r>
            <a:r>
              <a:rPr lang="ja-JP" altLang="en-US" b="1">
                <a:solidFill>
                  <a:srgbClr val="C00000"/>
                </a:solidFill>
              </a:rPr>
              <a:t>少ない</a:t>
            </a:r>
            <a:r>
              <a:rPr lang="ja-JP" altLang="en-US"/>
              <a:t>？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99D278B-ADDD-FD37-15B8-7226C9B4E4DC}"/>
              </a:ext>
            </a:extLst>
          </p:cNvPr>
          <p:cNvSpPr txBox="1"/>
          <p:nvPr/>
        </p:nvSpPr>
        <p:spPr>
          <a:xfrm>
            <a:off x="2336800" y="5041900"/>
            <a:ext cx="4812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</a:t>
            </a:r>
            <a:r>
              <a:rPr kumimoji="1" lang="ja-JP" altLang="en-US"/>
              <a:t>値</a:t>
            </a:r>
            <a:r>
              <a:rPr lang="en-US" altLang="ja-JP" dirty="0"/>
              <a:t> = 2*(1-NORM.S.DIST(ABS(z</a:t>
            </a:r>
            <a:r>
              <a:rPr lang="ja-JP" altLang="en-US"/>
              <a:t>値</a:t>
            </a:r>
            <a:r>
              <a:rPr lang="en-US" altLang="ja-JP" dirty="0"/>
              <a:t>),TRUE))</a:t>
            </a:r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FBC6AA1-F7F8-CD27-F3D0-B3CC1C6CF965}"/>
              </a:ext>
            </a:extLst>
          </p:cNvPr>
          <p:cNvSpPr txBox="1"/>
          <p:nvPr/>
        </p:nvSpPr>
        <p:spPr>
          <a:xfrm>
            <a:off x="315468" y="163889"/>
            <a:ext cx="5638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4.</a:t>
            </a:r>
            <a:r>
              <a:rPr lang="ja-JP" altLang="en-US" sz="2400" b="1"/>
              <a:t> </a:t>
            </a:r>
            <a:r>
              <a:rPr lang="en" altLang="ja-JP" sz="2400" b="1" dirty="0"/>
              <a:t>p</a:t>
            </a:r>
            <a:r>
              <a:rPr lang="ja-JP" altLang="en-US" sz="2400" b="1"/>
              <a:t>値を初めて出す（珍しさを確率に）</a:t>
            </a:r>
            <a:endParaRPr kumimoji="1" lang="ja-JP" altLang="en-US" sz="2400" b="1"/>
          </a:p>
        </p:txBody>
      </p:sp>
    </p:spTree>
    <p:extLst>
      <p:ext uri="{BB962C8B-B14F-4D97-AF65-F5344CB8AC3E}">
        <p14:creationId xmlns:p14="http://schemas.microsoft.com/office/powerpoint/2010/main" val="2391344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3A7D5-CB55-179D-E8FC-08B454296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8C6294C4-8F53-CE41-5749-644ABA4B6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" y="793571"/>
            <a:ext cx="11071780" cy="114952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ADD00A2-636C-17C1-31D5-AD0A721CEFAC}"/>
              </a:ext>
            </a:extLst>
          </p:cNvPr>
          <p:cNvSpPr/>
          <p:nvPr/>
        </p:nvSpPr>
        <p:spPr>
          <a:xfrm>
            <a:off x="5943600" y="806271"/>
            <a:ext cx="5156200" cy="387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C76E88-715A-B359-F8B3-B7F381B9DDB3}"/>
              </a:ext>
            </a:extLst>
          </p:cNvPr>
          <p:cNvSpPr txBox="1"/>
          <p:nvPr/>
        </p:nvSpPr>
        <p:spPr>
          <a:xfrm>
            <a:off x="1308100" y="2463800"/>
            <a:ext cx="618630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0070C0"/>
                </a:solidFill>
              </a:rPr>
              <a:t>Excel</a:t>
            </a:r>
            <a:r>
              <a:rPr lang="ja-JP" altLang="en-US" b="1">
                <a:solidFill>
                  <a:srgbClr val="0070C0"/>
                </a:solidFill>
              </a:rPr>
              <a:t>の次の値をセルに入れましょう</a:t>
            </a:r>
            <a:endParaRPr lang="en-US" altLang="ja-JP" b="1" dirty="0">
              <a:solidFill>
                <a:srgbClr val="0070C0"/>
              </a:solidFill>
            </a:endParaRPr>
          </a:p>
          <a:p>
            <a:pPr>
              <a:tabLst>
                <a:tab pos="1816100" algn="l"/>
              </a:tabLst>
            </a:pPr>
            <a:r>
              <a:rPr lang="ja-JP" altLang="en-US" b="1"/>
              <a:t>・有意水準</a:t>
            </a:r>
            <a:r>
              <a:rPr lang="en-US" altLang="ja-JP" dirty="0"/>
              <a:t>	</a:t>
            </a:r>
            <a:r>
              <a:rPr lang="en-US" altLang="ja-JP" b="1" dirty="0"/>
              <a:t>0.05</a:t>
            </a:r>
            <a:endParaRPr lang="ja-JP" altLang="en-US" b="1"/>
          </a:p>
          <a:p>
            <a:endParaRPr lang="en-US" altLang="ja-JP" dirty="0"/>
          </a:p>
          <a:p>
            <a:r>
              <a:rPr lang="en-US" altLang="ja-JP" dirty="0"/>
              <a:t>p</a:t>
            </a:r>
            <a:r>
              <a:rPr lang="ja-JP" altLang="en-US"/>
              <a:t>値 と 有意水準を </a:t>
            </a:r>
            <a:r>
              <a:rPr lang="ja-JP" altLang="en-US" sz="2000" b="1"/>
              <a:t>比較</a:t>
            </a:r>
            <a:endParaRPr lang="ja-JP" altLang="en-US" b="1"/>
          </a:p>
          <a:p>
            <a:r>
              <a:rPr lang="ja-JP" altLang="en-US"/>
              <a:t>判断文を </a:t>
            </a:r>
            <a:r>
              <a:rPr lang="ja-JP" altLang="en-US" sz="2000" b="1"/>
              <a:t>自分の言葉で完成</a:t>
            </a:r>
            <a:r>
              <a:rPr lang="ja-JP" altLang="en-US" sz="2000"/>
              <a:t>させましょう</a:t>
            </a:r>
            <a:endParaRPr lang="en-US" altLang="ja-JP" sz="2000" dirty="0"/>
          </a:p>
          <a:p>
            <a:endParaRPr kumimoji="1" lang="en-US" altLang="ja-JP" sz="2000" dirty="0"/>
          </a:p>
          <a:p>
            <a:r>
              <a:rPr lang="ja-JP" altLang="en-US"/>
              <a:t>仮定した結果がほとんど起きないなら、その仮定を疑う。</a:t>
            </a:r>
            <a:endParaRPr kumimoji="1" lang="en-US" altLang="ja-JP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576934F-B4B4-53B8-E740-69F99CD02671}"/>
              </a:ext>
            </a:extLst>
          </p:cNvPr>
          <p:cNvSpPr txBox="1"/>
          <p:nvPr/>
        </p:nvSpPr>
        <p:spPr>
          <a:xfrm>
            <a:off x="315468" y="163889"/>
            <a:ext cx="5460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5.</a:t>
            </a:r>
            <a:r>
              <a:rPr lang="ja-JP" altLang="en-US" sz="2400" b="1"/>
              <a:t> 判断する（初めて有意水準を出す）</a:t>
            </a:r>
            <a:endParaRPr kumimoji="1" lang="ja-JP" altLang="en-US" sz="2400" b="1"/>
          </a:p>
        </p:txBody>
      </p:sp>
    </p:spTree>
    <p:extLst>
      <p:ext uri="{BB962C8B-B14F-4D97-AF65-F5344CB8AC3E}">
        <p14:creationId xmlns:p14="http://schemas.microsoft.com/office/powerpoint/2010/main" val="4247290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86CA0-7F23-AA72-F29F-1C6540B51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4D47CB52-19F0-9372-6500-F86C45B54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" y="793571"/>
            <a:ext cx="11071780" cy="114952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759FAEC-A629-172A-0AA0-E269B82C8191}"/>
              </a:ext>
            </a:extLst>
          </p:cNvPr>
          <p:cNvSpPr/>
          <p:nvPr/>
        </p:nvSpPr>
        <p:spPr>
          <a:xfrm>
            <a:off x="5943600" y="806271"/>
            <a:ext cx="5156200" cy="3875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221A93B-80FC-6EED-B0DB-F215659F1976}"/>
              </a:ext>
            </a:extLst>
          </p:cNvPr>
          <p:cNvSpPr txBox="1"/>
          <p:nvPr/>
        </p:nvSpPr>
        <p:spPr>
          <a:xfrm>
            <a:off x="1308100" y="2463800"/>
            <a:ext cx="867577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</a:t>
            </a:r>
            <a:r>
              <a:rPr lang="ja-JP" altLang="en-US"/>
              <a:t>値と有意水準の比較</a:t>
            </a:r>
          </a:p>
          <a:p>
            <a:endParaRPr lang="ja-JP" altLang="en-US"/>
          </a:p>
          <a:p>
            <a:r>
              <a:rPr lang="ja-JP" altLang="en-US"/>
              <a:t>帰無仮説を棄却</a:t>
            </a:r>
          </a:p>
          <a:p>
            <a:endParaRPr lang="ja-JP" altLang="en-US"/>
          </a:p>
          <a:p>
            <a:r>
              <a:rPr lang="ja-JP" altLang="en-US"/>
              <a:t>これは、「フライドポテトの平均重量が公表値 </a:t>
            </a:r>
            <a:r>
              <a:rPr lang="en-US" altLang="ja-JP" dirty="0"/>
              <a:t>135g </a:t>
            </a:r>
            <a:r>
              <a:rPr lang="ja-JP" altLang="en-US"/>
              <a:t>である」と仮定した場合に、</a:t>
            </a:r>
          </a:p>
          <a:p>
            <a:r>
              <a:rPr lang="ja-JP" altLang="en-US"/>
              <a:t>今回のような標本平均が得られる確率が</a:t>
            </a:r>
            <a:r>
              <a:rPr lang="en-US" altLang="ja-JP" dirty="0"/>
              <a:t>5%</a:t>
            </a:r>
            <a:r>
              <a:rPr lang="ja-JP" altLang="en-US"/>
              <a:t>よりも小さいことを意味する。</a:t>
            </a:r>
          </a:p>
          <a:p>
            <a:r>
              <a:rPr lang="ja-JP" altLang="en-US"/>
              <a:t>つまり、この結果は偶然としては非常に起こりにくいと判断できる。</a:t>
            </a:r>
          </a:p>
          <a:p>
            <a:r>
              <a:rPr lang="ja-JP" altLang="en-US"/>
              <a:t>したがって、この店のポテトは公表値</a:t>
            </a:r>
            <a:r>
              <a:rPr lang="en-US" altLang="ja-JP" dirty="0"/>
              <a:t>135g</a:t>
            </a:r>
            <a:r>
              <a:rPr lang="ja-JP" altLang="en-US"/>
              <a:t>どおりとは言えない。</a:t>
            </a:r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E217563-7877-9C22-1102-1D7CC0B1019F}"/>
              </a:ext>
            </a:extLst>
          </p:cNvPr>
          <p:cNvSpPr txBox="1"/>
          <p:nvPr/>
        </p:nvSpPr>
        <p:spPr>
          <a:xfrm>
            <a:off x="315468" y="163889"/>
            <a:ext cx="1766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6.</a:t>
            </a:r>
            <a:r>
              <a:rPr lang="ja-JP" altLang="en-US" sz="2400" b="1"/>
              <a:t> 最終判断</a:t>
            </a:r>
            <a:endParaRPr kumimoji="1" lang="ja-JP" altLang="en-US" sz="2400" b="1"/>
          </a:p>
        </p:txBody>
      </p:sp>
    </p:spTree>
    <p:extLst>
      <p:ext uri="{BB962C8B-B14F-4D97-AF65-F5344CB8AC3E}">
        <p14:creationId xmlns:p14="http://schemas.microsoft.com/office/powerpoint/2010/main" val="358783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1707</TotalTime>
  <Words>418</Words>
  <Application>Microsoft Macintosh PowerPoint</Application>
  <PresentationFormat>ワイド画面</PresentationFormat>
  <Paragraphs>52</Paragraphs>
  <Slides>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道和 岡井</dc:creator>
  <cp:lastModifiedBy>道和 岡井</cp:lastModifiedBy>
  <cp:revision>2</cp:revision>
  <dcterms:created xsi:type="dcterms:W3CDTF">2025-12-31T23:51:54Z</dcterms:created>
  <dcterms:modified xsi:type="dcterms:W3CDTF">2026-01-02T04:20:02Z</dcterms:modified>
</cp:coreProperties>
</file>